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372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Phishing Awareness</a:t>
            </a:r>
          </a:p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Simulation Using Social</a:t>
            </a:r>
          </a:p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Engineering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>
                <a:solidFill>
                  <a:srgbClr val="C8CDE6"/>
                </a:solidFill>
                <a:latin typeface="Arial"/>
              </a:defRPr>
            </a:pPr>
            <a:r>
              <a:t>A consent-based, harmless simulation for security awareness education.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144000" cy="2277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lang="en-IN" sz="1400" dirty="0" smtClean="0">
                <a:latin typeface="Arial Black" pitchFamily="34" charset="0"/>
              </a:rPr>
              <a:t>NAME:</a:t>
            </a:r>
            <a:r>
              <a:rPr lang="en-IN" sz="1400" dirty="0">
                <a:latin typeface="Arial Black" pitchFamily="34" charset="0"/>
              </a:rPr>
              <a:t> </a:t>
            </a:r>
            <a:r>
              <a:rPr lang="en-IN" sz="1400" dirty="0" smtClean="0">
                <a:latin typeface="Arial Black" pitchFamily="34" charset="0"/>
              </a:rPr>
              <a:t>1)SANIKA  SHELAR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lang="en-IN" sz="1400" dirty="0" smtClean="0">
                <a:latin typeface="Arial Black" pitchFamily="34" charset="0"/>
              </a:rPr>
              <a:t>             2)AYUSH SINGH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lang="en-IN" sz="1400" dirty="0">
                <a:latin typeface="Arial Black" pitchFamily="34" charset="0"/>
              </a:rPr>
              <a:t> </a:t>
            </a:r>
            <a:r>
              <a:rPr lang="en-IN" sz="1400" dirty="0" smtClean="0">
                <a:latin typeface="Arial Black" pitchFamily="34" charset="0"/>
              </a:rPr>
              <a:t>            3)ROSHANI PATEL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lang="en-IN" sz="1400" dirty="0">
                <a:latin typeface="Arial Black" pitchFamily="34" charset="0"/>
              </a:rPr>
              <a:t> </a:t>
            </a:r>
            <a:r>
              <a:rPr lang="en-IN" sz="1400" dirty="0" smtClean="0">
                <a:latin typeface="Arial Black" pitchFamily="34" charset="0"/>
              </a:rPr>
              <a:t>            4)GOURNAG SINGH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endParaRPr lang="en-IN" sz="1400" dirty="0" smtClean="0">
              <a:latin typeface="Bodoni MT Black" pitchFamily="18" charset="0"/>
            </a:endParaRP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lang="en-IN" dirty="0" smtClean="0">
                <a:latin typeface="Arial Black" pitchFamily="34" charset="0"/>
              </a:rPr>
              <a:t>GROUP-A |  </a:t>
            </a:r>
            <a:r>
              <a:rPr lang="en-IN" dirty="0" err="1" smtClean="0">
                <a:latin typeface="Arial Black" pitchFamily="34" charset="0"/>
              </a:rPr>
              <a:t>Naviotech</a:t>
            </a:r>
            <a:r>
              <a:rPr lang="en-IN" dirty="0" smtClean="0">
                <a:latin typeface="Arial Black" pitchFamily="34" charset="0"/>
              </a:rPr>
              <a:t> </a:t>
            </a:r>
            <a:r>
              <a:rPr lang="en-IN" dirty="0">
                <a:latin typeface="Arial Black" pitchFamily="34" charset="0"/>
              </a:rPr>
              <a:t>s</a:t>
            </a:r>
            <a:r>
              <a:rPr lang="en-IN" dirty="0" smtClean="0">
                <a:latin typeface="Arial Black" pitchFamily="34" charset="0"/>
              </a:rPr>
              <a:t>olutions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endParaRPr lang="en-IN" dirty="0" smtClean="0">
              <a:latin typeface="Arial Black" pitchFamily="34" charset="0"/>
            </a:endParaRP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endParaRPr lang="en-IN" dirty="0" smtClean="0">
              <a:latin typeface="Arial Black" pitchFamily="34" charset="0"/>
            </a:endParaRP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endParaRPr lang="en-IN" dirty="0" smtClean="0"/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dirty="0" smtClean="0"/>
              <a:t>S</a:t>
            </a:r>
            <a:r>
              <a:rPr lang="en-IN" dirty="0" smtClean="0"/>
              <a:t>ANIKA SHELAR</a:t>
            </a:r>
            <a:endParaRPr dirty="0"/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Naviotech</a:t>
            </a:r>
            <a:r>
              <a:rPr dirty="0"/>
              <a:t> Solutions  </a:t>
            </a:r>
            <a:r>
              <a:rPr dirty="0" smtClean="0"/>
              <a:t>|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326880" y="2377440"/>
            <a:ext cx="2011680" cy="2011680"/>
          </a:xfrm>
          <a:prstGeom prst="ellipse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rPr dirty="0"/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What is phishing?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3891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22226E"/>
                </a:solidFill>
                <a:latin typeface="Georgia"/>
              </a:defRPr>
            </a:pPr>
            <a:r>
              <a:t>Social engineering by impersonation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82C34"/>
                </a:solidFill>
                <a:latin typeface="Arial"/>
              </a:defRPr>
            </a:pPr>
            <a:r>
              <a:t>An attacker poses as a trusted bank, employer or colleague to make you reveal data, install malware or approve a payment.</a:t>
            </a:r>
          </a:p>
          <a:p>
            <a:pPr algn="l">
              <a:defRPr sz="1400" b="0">
                <a:solidFill>
                  <a:srgbClr val="282C34"/>
                </a:solidFill>
                <a:latin typeface="Arial"/>
              </a:defRPr>
            </a:pPr>
            <a:endParaRPr/>
          </a:p>
          <a:p>
            <a:pPr algn="l">
              <a:defRPr sz="1400" b="0">
                <a:solidFill>
                  <a:srgbClr val="282C34"/>
                </a:solidFill>
                <a:latin typeface="Arial"/>
              </a:defRPr>
            </a:pPr>
            <a:r>
              <a:t>It exploits human psychology, not software flaws.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645920"/>
            <a:ext cx="3017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17830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Bulk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t>Mass phishing campaigns sent to thousands of targets simultaneously without personalization.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645920"/>
            <a:ext cx="3017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Spear phishing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1031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t>Highly targeted attacks tailored specific to an individual or particular company.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108960"/>
            <a:ext cx="3017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32461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Whaling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566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t>High-profile executive targeting aimed directly at CEOs, CFOs, or senior leadership.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108960"/>
            <a:ext cx="3017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32461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Smishing (SMS)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566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t>Phishing vectors executing malicious hooks over standard mobile text messaging.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4572000"/>
            <a:ext cx="3017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47091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Vishing (voice)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0292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t>Voice-based phone impersonation scams designed to extract urgent actions.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572000"/>
            <a:ext cx="3017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47091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Quishing (QR)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0292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t>Malicious QR codes embedded inside documents or emails to bypass URL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Psychological triggers attackers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Looks like a boss, bank, law enforcement, or system administrator official.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Act within 24 hours, change passcodes immediately, or lose account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Fear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Fines, legal action, suspicious log-ins detected, or direct disciplinary threats.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3832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Prizes, bonuses, refunds, or a new shared document containing financial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02336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4023360"/>
            <a:ext cx="33832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Familiarity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Impersonating known brands, direct internal colleagues, or recent company events.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02336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4023360"/>
            <a:ext cx="33832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Helpfulness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Exploits the natural human wish to assist someone stuck in an operational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Objectives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22226E"/>
                </a:solidFill>
                <a:latin typeface="Georgia"/>
              </a:defRPr>
            </a:pPr>
            <a:r>
              <a:t>Key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1. Design a safe simulation with no credential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2. Run it in a controlled lab environment with explicit informed consent.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3. Measure absolute baseline click rates, reporting rates, and time-to-report.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4. Teach immediately post-click and compare metrics before/after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5. Recommend tailored preventive technical controls and user habits.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Georgia"/>
              </a:defRPr>
            </a:pPr>
            <a:r>
              <a:t>Simulation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- Email-based controlled safe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- Lab network infrastructure, approved by college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319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- Volunteers aged 18 or above strictly monitored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720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- Target size: About 20 to 50 active participants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2120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- SMS, voice, and QR vectors discussed conceptually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Methodology: pre-test, training, post-test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4572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28E2B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1645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2226E"/>
                </a:solidFill>
                <a:latin typeface="Arial"/>
              </a:defRPr>
            </a:pPr>
            <a:r>
              <a:t>Approve &amp;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282C34"/>
                </a:solidFill>
                <a:latin typeface="Arial"/>
              </a:defRPr>
            </a:pPr>
            <a:r>
              <a:t>Written formal user permission.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011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28E2B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3291840"/>
            <a:ext cx="1645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3472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2226E"/>
                </a:solidFill>
                <a:latin typeface="Arial"/>
              </a:defRPr>
            </a:pPr>
            <a:r>
              <a:t>Round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4023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282C34"/>
                </a:solidFill>
                <a:latin typeface="Arial"/>
              </a:defRPr>
            </a:pPr>
            <a:r>
              <a:t>Establish phishing baseline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011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28E2B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3291840"/>
            <a:ext cx="1645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43984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2226E"/>
                </a:solidFill>
                <a:latin typeface="Arial"/>
              </a:defRPr>
            </a:pPr>
            <a:r>
              <a:t>Instant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4023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282C34"/>
                </a:solidFill>
                <a:latin typeface="Arial"/>
              </a:defRPr>
            </a:pPr>
            <a:r>
              <a:t>Awareness landing page on click.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011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28E2B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3291840"/>
            <a:ext cx="1645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2226E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4023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282C34"/>
                </a:solidFill>
                <a:latin typeface="Arial"/>
              </a:defRPr>
            </a:pPr>
            <a:r>
              <a:t>Short targeted interactive workshop.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011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28E2B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3291840"/>
            <a:ext cx="1645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65008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2226E"/>
                </a:solidFill>
                <a:latin typeface="Arial"/>
              </a:defRPr>
            </a:pPr>
            <a:r>
              <a:t>Round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4023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282C34"/>
                </a:solidFill>
                <a:latin typeface="Arial"/>
              </a:defRPr>
            </a:pPr>
            <a:r>
              <a:t>New custom lure, same core difficulty.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011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28E2B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291840"/>
            <a:ext cx="1645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0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2226E"/>
                </a:solidFill>
                <a:latin typeface="Arial"/>
              </a:defRPr>
            </a:pPr>
            <a:r>
              <a:t>Debrief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02336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282C34"/>
                </a:solidFill>
                <a:latin typeface="Arial"/>
              </a:defRPr>
            </a:pPr>
            <a:r>
              <a:t>Full transparent reveal and feedback.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86400"/>
            <a:ext cx="10728655" cy="64008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2226E"/>
                </a:solidFill>
                <a:latin typeface="Arial"/>
              </a:defRPr>
            </a:pPr>
            <a:r>
              <a:t>CRITICAL CONTROLS: Lab-only setup, fictional company name, no attachments, and absolute zero requests for personal data in any 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Harmless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22226E"/>
                </a:solidFill>
                <a:latin typeface="Georgia"/>
              </a:defRPr>
            </a:pPr>
            <a:r>
              <a:t>The Awareness 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• Static webpage format: No user input forms or text fields.</a:t>
            </a:r>
          </a:p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• Zero custom backend scripts that capture, send, or store private data.</a:t>
            </a:r>
          </a:p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• Strictly no persistent storage tracking cookies deployed.</a:t>
            </a:r>
          </a:p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• Clearly and transparently states immediately: 'This was a simulation'.</a:t>
            </a:r>
          </a:p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• Directly highlights and breaks down the phishing red flags in the email.</a:t>
            </a:r>
          </a:p>
          <a:p>
            <a:pPr algn="l">
              <a:defRPr sz="1300" b="0">
                <a:solidFill>
                  <a:srgbClr val="282C34"/>
                </a:solidFill>
                <a:latin typeface="Arial"/>
              </a:defRPr>
            </a:pPr>
            <a:r>
              <a:t>• Only registers binary metric count: visits per anonymized link token.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120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22226E"/>
                </a:solidFill>
                <a:latin typeface="Arial"/>
              </a:defRPr>
            </a:pPr>
            <a:r>
              <a:t>Collected Data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Anonymized participant verification code mapping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Simple binary tracking (Clicked email link: Yes/No + Timestamp)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Simple reporting tracking (Reported email: Yes/No + Timestamp)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023360"/>
            <a:ext cx="5120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Arial"/>
              </a:defRPr>
            </a:pPr>
            <a:r>
              <a:t>Strictly NEVER Collected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Plaintext user passwords, PINs, or secondary one-time codes (OTP)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Credit card coordinates, identification numbers, or identity files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Technical host fingerprints, browser profiles, or detailed device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Ethics and informed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Arial"/>
              </a:defRPr>
            </a:pPr>
            <a:r>
              <a:t>Informed Consent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282C34"/>
                </a:solidFill>
                <a:latin typeface="Arial"/>
              </a:defRPr>
            </a:pPr>
            <a:r>
              <a:t>Purpose, operational process, and data usage models explicitly explained prior to testing.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Arial"/>
              </a:defRPr>
            </a:pPr>
            <a:r>
              <a:t>Privacy &amp; Anonymity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282C34"/>
                </a:solidFill>
                <a:latin typeface="Arial"/>
              </a:defRPr>
            </a:pPr>
            <a:r>
              <a:t>Anonymous numeric lookup codes used; group-level reporting strictly masks individual IDs.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Arial"/>
              </a:defRPr>
            </a:pPr>
            <a:r>
              <a:t>Free Withdrawal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282C34"/>
                </a:solidFill>
                <a:latin typeface="Arial"/>
              </a:defRPr>
            </a:pPr>
            <a:r>
              <a:t>Participants hold absolute freedom to exit the research at any given point without any penalty.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Arial"/>
              </a:defRPr>
            </a:pPr>
            <a:r>
              <a:t>Post-Test Debrief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282C34"/>
                </a:solidFill>
                <a:latin typeface="Arial"/>
              </a:defRPr>
            </a:pPr>
            <a:r>
              <a:t>Every active trick, landing page mechanism, and individual result fully unmasked at conclusion.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5120640" cy="420624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Georgia"/>
              </a:defRPr>
            </a:pPr>
            <a:r>
              <a:t>The Consent Form Covers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60320"/>
            <a:ext cx="43891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Explicit statement of core research purpose and target time period</a:t>
            </a:r>
          </a:p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Comprehensive outline of simulation events and mock-attack mechanics</a:t>
            </a:r>
          </a:p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Explicit itemization of metrics tracked vs data elements ignored</a:t>
            </a:r>
          </a:p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Assurance that actual testing launch timing remains strictly unannounced</a:t>
            </a:r>
          </a:p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Data protection, organizational confidentiality protocols, and point of contacts</a:t>
            </a:r>
          </a:p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Mandatory participant age certification declaration (Must be 18+)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Measuring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22226E"/>
                </a:solidFill>
                <a:latin typeface="Georgia"/>
              </a:defRPr>
            </a:pPr>
            <a:r>
              <a:t>Core Performance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4754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28E2B"/>
                </a:solidFill>
                <a:latin typeface="Arial"/>
              </a:defRPr>
            </a:pPr>
            <a:r>
              <a:t>Click Rate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Courier New"/>
              </a:defRPr>
            </a:pPr>
            <a:r>
              <a:t>( Total Clicked Links / Total Received Emails )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rPr dirty="0"/>
              <a:t>Indicates the general system vulnerability score before intervention.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4754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28E2B"/>
                </a:solidFill>
                <a:latin typeface="Arial"/>
              </a:defRPr>
            </a:pPr>
            <a:r>
              <a:t>Reporting Rate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Courier New"/>
              </a:defRPr>
            </a:pPr>
            <a:r>
              <a:t>( Total Reported Emails / Total Received Emails ) ×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rPr dirty="0"/>
              <a:t>Measures user proactive defense vigilance and reporting behavior.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4754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28E2B"/>
                </a:solidFill>
                <a:latin typeface="Arial"/>
              </a:defRPr>
            </a:pPr>
            <a:r>
              <a:t>Time-To-Report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22226E"/>
                </a:solidFill>
                <a:latin typeface="Courier New"/>
              </a:defRPr>
            </a:pPr>
            <a:r>
              <a:rPr dirty="0"/>
              <a:t>Median of ( Time of User Report - Initial Send Timestamp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E737D"/>
                </a:solidFill>
                <a:latin typeface="Arial"/>
              </a:defRPr>
            </a:pPr>
            <a:r>
              <a:rPr dirty="0"/>
              <a:t>Gauges how quickly security centers can react to an ongoing crisis.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459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Illustrative Trends (Before vs. After Training)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937760"/>
            <a:ext cx="4389120" cy="27432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2468880"/>
            <a:ext cx="27432" cy="2468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49440" y="3383280"/>
            <a:ext cx="548640" cy="155448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2226E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297680"/>
            <a:ext cx="548640" cy="64008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4023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F28E2B"/>
                </a:solidFill>
                <a:latin typeface="Arial"/>
              </a:defRPr>
            </a:pPr>
            <a:r>
              <a:t>17.5%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82C34"/>
                </a:solidFill>
                <a:latin typeface="Arial"/>
              </a:defRPr>
            </a:pPr>
            <a:r>
              <a:t>Click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389120"/>
            <a:ext cx="548640" cy="54864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4114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2226E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3017520"/>
            <a:ext cx="548640" cy="192024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0" y="27432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F28E2B"/>
                </a:solidFill>
                <a:latin typeface="Arial"/>
              </a:defRPr>
            </a:pPr>
            <a:r>
              <a:t>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82C34"/>
                </a:solidFill>
                <a:latin typeface="Arial"/>
              </a:defRPr>
            </a:pPr>
            <a:r>
              <a:t>Reporting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5486400"/>
            <a:ext cx="182880" cy="18288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5440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282C34"/>
                </a:solidFill>
                <a:latin typeface="Arial"/>
              </a:defRPr>
            </a:pPr>
            <a:r>
              <a:t>Round 1 (Baseline)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5486400"/>
            <a:ext cx="182880" cy="18288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5440" y="5440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282C34"/>
                </a:solidFill>
                <a:latin typeface="Arial"/>
              </a:defRPr>
            </a:pPr>
            <a:r>
              <a:t>Round 2 (Post-Training)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Lessons learned and preventive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Use MFA Defensively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Prefer modern cryptographically backed FIDO2 physical keys and secure device passkeys.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Standard application authenticators beat insecure SMS codes easily.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Never approve unexpected push verification prompts arriving out of sequence.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Check the URL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Read the absolute root domain right-to-left to spot spoofed subdomains.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Systematically watch out for look-alike or internationalized homograph characters.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Note: A padlock icon simply means traffic is encrypted, it does NOT imply safety.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2226E"/>
                </a:solidFill>
                <a:latin typeface="Georgia"/>
              </a:defRPr>
            </a:pPr>
            <a:r>
              <a:t>Inspect Email Headers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Closely compare the user visible 'From' field against actual system 'Return-Path' markers.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Programmatically verify critical validation records like SPF, DKIM signature status, and DMARC alignment rules.</a:t>
            </a:r>
          </a:p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• Read received routing log blocks from the bottom up to track true origin hops.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10728655" cy="73152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GOLDEN RULE: Report fast! One-click seamless security reporting tools combined with a blame-free reporting culture exponentially limits organizational damage.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42004" y="91440"/>
            <a:ext cx="12662647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737D"/>
                </a:solidFill>
                <a:latin typeface="Arial"/>
              </a:defRPr>
            </a:pPr>
            <a:r>
              <a:t>PHISHING AWARENESS SIMULATION | NAVIOTECH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6E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0" cy="100584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Hands-on, consent-based simulation teaches vastly more than theory slides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Active experiential learning cements behavioral patterns effectively.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72865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548640" cy="1005840"/>
          </a:xfrm>
          <a:prstGeom prst="rect">
            <a:avLst/>
          </a:prstGeom>
          <a:solidFill>
            <a:srgbClr val="222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t>Reporting metrics and general response times matter far more than single click-rates.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375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t>Detection speed dictates early isolation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1072865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48640" cy="100584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06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22226E"/>
                </a:solidFill>
                <a:latin typeface="Arial"/>
              </a:defRPr>
            </a:pPr>
            <a:r>
              <a:rPr dirty="0"/>
              <a:t>Deploying phishing-resistant MFA infrastructure paired with a non-punitive culture minimizes systemic breach windows.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46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282C34"/>
                </a:solidFill>
                <a:latin typeface="Arial"/>
              </a:defRPr>
            </a:pPr>
            <a:r>
              <a:rPr dirty="0"/>
              <a:t>Technical guardrails must complement positive psychological 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22226E"/>
                </a:solidFill>
                <a:latin typeface="Georgia"/>
              </a:defRPr>
            </a:pPr>
            <a:r>
              <a:rPr dirty="0"/>
              <a:t>Thank you.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1151</Words>
  <Application>Microsoft Office PowerPoint</Application>
  <PresentationFormat>Custom</PresentationFormat>
  <Paragraphs>164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kirti</dc:creator>
  <dc:description>generated using python-pptx</dc:description>
  <cp:lastModifiedBy>kirti</cp:lastModifiedBy>
  <cp:revision>7</cp:revision>
  <dcterms:created xsi:type="dcterms:W3CDTF">2013-01-27T09:14:16Z</dcterms:created>
  <dcterms:modified xsi:type="dcterms:W3CDTF">2026-10-27T12:34:43Z</dcterms:modified>
</cp:coreProperties>
</file>